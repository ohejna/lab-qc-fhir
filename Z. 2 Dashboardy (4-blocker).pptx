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9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01.10–31.10.2025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 trakcie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Miesiąc startowy – brak poprzedniego okresu raportowania.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Kick-off zespołu: przyjęto metodykę Scrum, zdefiniowano role i zasady współpracy.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Zapoznanie z tematyką projektu i standardami medycznymi (HL7 FHIR R5, LOINC, UCUM).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Sformułowanie zakresu i ograniczeń projektu (Oliwier)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Opracowanie perspektywy produktu jako niezależnego modułu middleware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Charakterystyka i opis profili grup użytkowników systemu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Identyfikacja interesariuszy i opracowanie macierzy RACI (Jakub 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3964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błędnej interpretacji specyfikacji HL7 FHIR R5 prowadzącej do niezgodności projektu ze standardem.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zbyt szerokiego zakresu analizy wykraczającego poza dostępne zasoby czasowe i ludzkie.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niejasnego podziału odpowiedzialności w zespole skutkującego powielaniem lub pominięciem zadań.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/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/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665154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539996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Definicja celu i wstęp do analizy (Jakub H)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50800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954905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Dokumentacja techniczna standardu HL7 FHIR R5 (Kacper)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4949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2824" y="5369814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Słownik pojęć: LOINC, UCUM, REST API (Oliwier)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5909881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92824" y="5784723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Analiza otoczenia systemowego – LIS, HIS, CDSS (Jakub 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01.11–30.11.2025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 trakcie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Definicja celu dokumentu i opracowanie wstępu do analizy przedwdrożeniowej (Jakub H)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Dokumentacja techniczna standardu HL7 FHIR R5 – zasoby Observation i Patient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Repozytorium pojęć i słownik definicji: LOINC, UCUM, REST (Oliwier)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Analiza architektury otoczenia systemowego – integracje LIS, HIS, CDSS (Jakub 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Audyt i szczegółowy opis procesu AS-IS z identyfikacją problemów (Jakub H)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Projektowanie optymalnego procesu docelowego TO-BE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Opracowanie scenariuszy użycia dla kluczowych funkcji systemu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Przygotowanie diagramów procesowych w notacji ArchiMate / UML (Oliwier)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3964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niejasności w precyzyjnym określeniu granic i zadań projektu.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niepełnego opisania ról i odpowiedzialności użytkowników w macierzy RACI.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braku zgodności między celem projektu a dalszymi wymaganiami systemowymi.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/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/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665154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539996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Zakres i ograniczenia projektu (Oliwier)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50800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954905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Perspektywa produktu – moduł middleware (Jakub P)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4949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2824" y="5369814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Charakterystyka grup użytkowników (Kacper)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5909881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92824" y="5784723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Analiza interesariuszy i macierz RACI (Jakub 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01.12–31.12.2025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 trakcie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Zakres projektu i elementy poza zakresem; precyzyjne ograniczenia systemu (Oliwier)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Perspektywa produktu jako niezależny moduł middleware między LIS a narzędziami ML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Profile użytkowników: Badacz kliniczny, Analityk danych, Administrator IT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Identyfikacja interesariuszy (GUMed, IOD, opiekun) i macierz RACI (Jakub 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Definicja wymagań funkcjonalnych (FR): import, walidacja, normalizacja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Definicja wymagań niefunkcjonalnych (NFR): wydajność, bezpieczeństwo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Projektowanie interfejsu użytkownika i dostępność WCAG 2.1 (Oliwier)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Priorytetyzacja i weryfikacja spójności wymagań (Jakub 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3964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Ryzyko, że diagram AS-IS lub TO-BE nie będzie odzwierciedlał opisu procesu tekstowego.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zbyt ogólnego porównania procesów bez mierzalnych wskaźników efektywności (KPI).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pominięcia wyjątków i scenariuszy awaryjnych w opisach Use Cases.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niespójności między modelami procesów a późniejszymi wymaganiami systemowymi.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/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/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665154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539996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Audyt i opis procesu AS-IS z mapowaniem problemów (Jakub H)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50800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954905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Projektowanie procesu TO-BE z porównaniem z AS-IS (Kacper)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4949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2824" y="5369814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Scenariusze użycia – Use Cases (Jakub P)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5909881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92824" y="5784723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Diagramy procesów w notacji ArchiMate / UML (Oliwier)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01.01–31.01.2026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B5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W trakcie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Audyt i opis procesu AS-IS z mapowaniem ryzyk błędów ludzkich (Jakub H)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Projektowanie procesu TO-BE: automatyczny pipeline FHIR + raport CSV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Scenariusze użycia: import masowy, rekordy niekompletne, alerty outlierów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Diagramy procesów AS-IS i TO-BE w notacji ArchiMate / UML (Oliwier)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Projektowanie architektury logicznej i fizycznej systemu (Jakub P)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Mechanizmy bezpieczeństwa: pseudonimizacja danych, szyfrowanie TLS (Kacper)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Analiza ryzyk projektowych i opracowanie harmonogramu wdrożenia (Jakub H)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Modelowanie przepływu danych i architektury integracji FHIR Bundle (Oliwier)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Końcowa redakcja i skład dokumentu analizy przedwdrożeniowej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3964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niepełnego opisania wymagań funkcjonalnych – pominięcie scenariuszy granicznych.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braku jednoznacznych, mierzalnych kryteriów sprawdzalności wymagań FR.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zbyt ogólnego opisu architektury bez diagramów komponentów i sekwencji.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niespójności między specyfikacją wymagań a opracowanym modelem TO-BE.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/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/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665154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539996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Wymagania funkcjonalne (FR) – kompletny katalog (Kacper)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50800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954905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Wymagania niefunkcjonalne (NFR) – wydajność, skalowalność (Jakub P)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4949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2824" y="5369814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Projektowanie interfejsu UX / zgodność WCAG 2.1 (Oliwier)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5909881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92824" y="5784723"/>
            <a:ext cx="5074920" cy="41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Priorytetyzacja i spójność wymagań (Jakub 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01.02–28.02.2026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14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Zakończony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Wymagania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funkcjonalne</a:t>
            </a:r>
            <a:r>
              <a:rPr sz="1200">
                <a:solidFill>
                  <a:srgbClr val="1A1A2E"/>
                </a:solidFill>
                <a:latin typeface="Calibri"/>
              </a:rPr>
              <a:t> FR: import JSON,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walidacja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FHIR R5,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mapowanie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LOINC (Kacper)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Wymagania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niefunkcjonalne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NFR: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wydajność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&lt;500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ms</a:t>
            </a:r>
            <a:r>
              <a:rPr sz="1200" dirty="0">
                <a:solidFill>
                  <a:srgbClr val="1A1A2E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skalowalność</a:t>
            </a:r>
            <a:r>
              <a:rPr sz="1200" dirty="0">
                <a:solidFill>
                  <a:srgbClr val="1A1A2E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dostępność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(Jakub P)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Dashboardy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UX, panel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zarządzania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importami</a:t>
            </a:r>
            <a:r>
              <a:rPr sz="1200" dirty="0">
                <a:solidFill>
                  <a:srgbClr val="1A1A2E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tryb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ciemny</a:t>
            </a:r>
            <a:r>
              <a:rPr sz="1200" dirty="0">
                <a:solidFill>
                  <a:srgbClr val="1A1A2E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zgodność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WCAG 2.1 (Oliwier)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Priorytetyzacja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wymagań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weryfikacja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spójności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biznesowo-technicznej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(Jakub 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417320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Faza 2 – START: konfiguracja środowiska Python 3.11 + Streamlit (marzec 2026)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Implementacja modułu wczytywania danych JSONL – loader.py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Implementacja walidatora RED / YELLOW / GREEN – validator.py</a:t>
            </a:r>
          </a:p>
          <a:p>
            <a:pPr>
              <a:spcBef>
                <a:spcPts val="17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 Przygotowanie środowiska testowego i syntetycznych danych laboratoryjnych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83964"/>
            <a:ext cx="5385816" cy="211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Niejednorodność danych źródłowych utrudni standaryzację i walidację zgodnie z FHIR R5.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Niepełna zgodność danych ze specyfikacją HL7 FHIR R5 może powodować błędy walidacji.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Ograniczony dostęp do rzeczywistych danych laboratoryjnych IP_CMC w fazie testów.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Przetwarzanie danych wrażliwych pacjentów – konieczność zgodności z RODO.</a:t>
            </a:r>
          </a:p>
          <a:p>
            <a:pPr>
              <a:spcBef>
                <a:spcPts val="1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 Ryzyko niepełnej anonimizacji lub pseudonimizacji danych wejściowych.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/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/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/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46236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539996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Architektura logiczna i fizyczna systemu (Jakub P)</a:t>
            </a:r>
          </a:p>
        </p:txBody>
      </p:sp>
      <p:sp>
        <p:nvSpPr>
          <p:cNvPr id="38" name="Oval 37"/>
          <p:cNvSpPr/>
          <p:nvPr/>
        </p:nvSpPr>
        <p:spPr>
          <a:xfrm>
            <a:off x="6345936" y="4955590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92824" y="4871923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Mechanizmy bezpieczeństwa i zgodność RODO (Kacper)</a:t>
            </a:r>
          </a:p>
        </p:txBody>
      </p:sp>
      <p:sp>
        <p:nvSpPr>
          <p:cNvPr id="40" name="Oval 39"/>
          <p:cNvSpPr/>
          <p:nvPr/>
        </p:nvSpPr>
        <p:spPr>
          <a:xfrm>
            <a:off x="6345936" y="528751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92824" y="5203850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Analiza ryzyk projektowych i harmonogram wdrożenia (Jakub H)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5619445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92824" y="5535777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Modelowanie przepływu danych FHIR Bundle (Oliwier)</a:t>
            </a:r>
          </a:p>
        </p:txBody>
      </p:sp>
      <p:sp>
        <p:nvSpPr>
          <p:cNvPr id="44" name="Oval 43"/>
          <p:cNvSpPr/>
          <p:nvPr/>
        </p:nvSpPr>
        <p:spPr>
          <a:xfrm>
            <a:off x="6345936" y="59513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92824" y="5867704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Końcowa redakcja i weryfikacja dokumentu analizy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38A6-2F03-F8DF-EDE6-72B1F2A5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780C65-975E-2B92-0FFB-CF807F052100}"/>
              </a:ext>
            </a:extLst>
          </p:cNvPr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CF516E-E63A-24A4-9F1A-961BC525E7B8}"/>
              </a:ext>
            </a:extLst>
          </p:cNvPr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60FC9-D042-E2FB-1900-4F579D8A33F9}"/>
              </a:ext>
            </a:extLst>
          </p:cNvPr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971D1-1E24-973F-AC56-E52C550FFDD9}"/>
              </a:ext>
            </a:extLst>
          </p:cNvPr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6D94A-6935-73E2-B7B4-1BBA5A513960}"/>
              </a:ext>
            </a:extLst>
          </p:cNvPr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13874-69CC-620E-904A-103F7446D126}"/>
              </a:ext>
            </a:extLst>
          </p:cNvPr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C1F84-BA84-079F-6EEA-2AAD4A3F7CAE}"/>
              </a:ext>
            </a:extLst>
          </p:cNvPr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CCD024-9F66-7710-596B-6B8D26F7706F}"/>
              </a:ext>
            </a:extLst>
          </p:cNvPr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B0275-4610-525F-3CAE-558761700C75}"/>
              </a:ext>
            </a:extLst>
          </p:cNvPr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4168B-3E15-48B9-5B13-C146F4606DA3}"/>
              </a:ext>
            </a:extLst>
          </p:cNvPr>
          <p:cNvSpPr txBox="1"/>
          <p:nvPr/>
        </p:nvSpPr>
        <p:spPr>
          <a:xfrm>
            <a:off x="9400032" y="365760"/>
            <a:ext cx="102412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Calibri"/>
              </a:rPr>
              <a:t>01.0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–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31.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77DC90-15F5-B567-0888-676534B72E40}"/>
              </a:ext>
            </a:extLst>
          </p:cNvPr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14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2C174-BC31-5724-A360-33A89352BB5E}"/>
              </a:ext>
            </a:extLst>
          </p:cNvPr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78E68-9A85-CAEA-3A44-365507345C6D}"/>
              </a:ext>
            </a:extLst>
          </p:cNvPr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Zakończony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80A483-78AF-8EDB-0580-6DBA6D71211A}"/>
              </a:ext>
            </a:extLst>
          </p:cNvPr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847FFD-9146-DB35-F378-1441397E354E}"/>
              </a:ext>
            </a:extLst>
          </p:cNvPr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B84BE-5811-15BA-F504-0FDE2B6267DD}"/>
              </a:ext>
            </a:extLst>
          </p:cNvPr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06CFCA-55CA-19F8-D451-A63BD9CA2494}"/>
              </a:ext>
            </a:extLst>
          </p:cNvPr>
          <p:cNvSpPr txBox="1"/>
          <p:nvPr/>
        </p:nvSpPr>
        <p:spPr>
          <a:xfrm>
            <a:off x="457200" y="1417320"/>
            <a:ext cx="5385816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200" dirty="0"/>
              <a:t>Kwestie prawne, RODO i regulacje prawne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(Kacper)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en-US" sz="1200" dirty="0"/>
              <a:t> </a:t>
            </a:r>
            <a:r>
              <a:rPr lang="en-US" sz="1200" dirty="0" err="1"/>
              <a:t>Poprawki</a:t>
            </a:r>
            <a:r>
              <a:rPr lang="en-US" sz="1200" dirty="0"/>
              <a:t> </a:t>
            </a:r>
            <a:r>
              <a:rPr lang="en-US" sz="1200" dirty="0" err="1"/>
              <a:t>końcowe</a:t>
            </a:r>
            <a:r>
              <a:rPr lang="en-US" sz="1200" dirty="0"/>
              <a:t> + </a:t>
            </a:r>
            <a:r>
              <a:rPr lang="en-US" sz="1200" dirty="0" err="1"/>
              <a:t>redakcja</a:t>
            </a:r>
            <a:r>
              <a:rPr lang="en-US" sz="1200" dirty="0"/>
              <a:t> </a:t>
            </a:r>
            <a:r>
              <a:rPr lang="en-US" sz="1200" dirty="0" err="1"/>
              <a:t>dokumentu</a:t>
            </a:r>
            <a:r>
              <a:rPr lang="en-US" sz="1200" dirty="0">
                <a:solidFill>
                  <a:srgbClr val="1A1A2E"/>
                </a:solidFill>
              </a:rPr>
              <a:t>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(Jakub P)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en-US" sz="1200" dirty="0" err="1"/>
              <a:t>Standardy</a:t>
            </a:r>
            <a:r>
              <a:rPr lang="en-US" sz="1200" dirty="0"/>
              <a:t> </a:t>
            </a:r>
            <a:r>
              <a:rPr lang="en-US" sz="1200" dirty="0" err="1"/>
              <a:t>danych</a:t>
            </a:r>
            <a:r>
              <a:rPr lang="en-US" sz="1200" dirty="0"/>
              <a:t>: HL7 FHIR, LOINC, UCUM, JSON </a:t>
            </a:r>
            <a:r>
              <a:rPr lang="en-US" sz="1200" dirty="0" err="1"/>
              <a:t>oraz</a:t>
            </a:r>
            <a:r>
              <a:rPr lang="en-US" sz="1200" dirty="0"/>
              <a:t> UX/UI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dostępność</a:t>
            </a:r>
            <a:r>
              <a:rPr lang="en-US" sz="1200" dirty="0"/>
              <a:t> WCAG 2.1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(Oliwier)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200" dirty="0">
                <a:solidFill>
                  <a:srgbClr val="1A1A2E"/>
                </a:solidFill>
              </a:rPr>
              <a:t> </a:t>
            </a:r>
            <a:r>
              <a:rPr lang="pl-PL" sz="1200" dirty="0"/>
              <a:t>Ryzyka projektowe, kamienie milowe oraz kontakt mailowy – akceptacja finalna</a:t>
            </a:r>
            <a:r>
              <a:rPr lang="pl-PL" sz="1200" dirty="0">
                <a:solidFill>
                  <a:srgbClr val="1A1A2E"/>
                </a:solidFill>
              </a:rPr>
              <a:t> (</a:t>
            </a:r>
            <a:r>
              <a:rPr lang="pl-PL" sz="1200" dirty="0">
                <a:solidFill>
                  <a:srgbClr val="1A1A2E"/>
                </a:solidFill>
                <a:latin typeface="Calibri"/>
              </a:rPr>
              <a:t>Jakub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H)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C6E84B-70BC-1B5F-42F7-EAFE2F678440}"/>
              </a:ext>
            </a:extLst>
          </p:cNvPr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3B127C-0A5C-298F-BFFD-B726C9F3EB94}"/>
              </a:ext>
            </a:extLst>
          </p:cNvPr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0E913D-CAE2-8E92-168B-2C7CECD3B50B}"/>
              </a:ext>
            </a:extLst>
          </p:cNvPr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7D46D-2D30-A1E4-D654-9DBE60865336}"/>
              </a:ext>
            </a:extLst>
          </p:cNvPr>
          <p:cNvSpPr txBox="1"/>
          <p:nvPr/>
        </p:nvSpPr>
        <p:spPr>
          <a:xfrm>
            <a:off x="6318504" y="1417320"/>
            <a:ext cx="5385816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200" dirty="0"/>
              <a:t>Implementacja standardizer.py (normalizacja jednostek UCUM) (Oliwier)</a:t>
            </a:r>
            <a:endParaRPr sz="12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Konfiguracja reference_ranges.json (zakresy referencyjne LOINC) (Jakub P)</a:t>
            </a:r>
            <a:endParaRPr lang="pl-PL" sz="12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t-BR" sz="1200" dirty="0"/>
              <a:t>Implementacja enricher.py (referenceRange + interpretacja L/N/H) (Oliwier)</a:t>
            </a:r>
            <a:endParaRPr lang="pl-PL" sz="1200" dirty="0"/>
          </a:p>
          <a:p>
            <a:pPr>
              <a:spcBef>
                <a:spcPts val="1700"/>
              </a:spcBef>
            </a:pPr>
            <a:r>
              <a:rPr lang="en-US" sz="1200" dirty="0">
                <a:solidFill>
                  <a:srgbClr val="1A1A2E"/>
                </a:solidFill>
              </a:rPr>
              <a:t>▸</a:t>
            </a:r>
            <a:r>
              <a:rPr lang="en-US" sz="1200" dirty="0"/>
              <a:t> </a:t>
            </a:r>
            <a:r>
              <a:rPr lang="en-US" sz="1200" dirty="0" err="1"/>
              <a:t>Implementacja</a:t>
            </a:r>
            <a:r>
              <a:rPr lang="en-US" sz="1200" dirty="0"/>
              <a:t> quality_control.py (</a:t>
            </a:r>
            <a:r>
              <a:rPr lang="en-US" sz="1200" dirty="0" err="1"/>
              <a:t>detekcja</a:t>
            </a:r>
            <a:r>
              <a:rPr lang="en-US" sz="1200" dirty="0"/>
              <a:t> </a:t>
            </a:r>
            <a:r>
              <a:rPr lang="en-US" sz="1200" dirty="0" err="1"/>
              <a:t>outlierów</a:t>
            </a:r>
            <a:r>
              <a:rPr lang="en-US" sz="1200" dirty="0"/>
              <a:t>) (Kacper)</a:t>
            </a:r>
            <a:endParaRPr lang="pl-PL" sz="12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608076-6CE0-F38E-70CB-187E44969F08}"/>
              </a:ext>
            </a:extLst>
          </p:cNvPr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74DAA-A232-94BC-9131-13A3B497FBB5}"/>
              </a:ext>
            </a:extLst>
          </p:cNvPr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B3FDC-ED4F-3B50-0A97-D8B99918EF64}"/>
              </a:ext>
            </a:extLst>
          </p:cNvPr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C8EEB-E364-B9E0-680E-9AD26E5D6BC9}"/>
              </a:ext>
            </a:extLst>
          </p:cNvPr>
          <p:cNvSpPr txBox="1"/>
          <p:nvPr/>
        </p:nvSpPr>
        <p:spPr>
          <a:xfrm>
            <a:off x="457200" y="4283964"/>
            <a:ext cx="5385816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100" dirty="0"/>
              <a:t> Ryzyko drobnych problemów technicznych przy konfiguracji środowiska programistycznego u członków zespołu.</a:t>
            </a:r>
          </a:p>
          <a:p>
            <a:pPr>
              <a:spcBef>
                <a:spcPts val="1300"/>
              </a:spcBef>
            </a:pPr>
            <a:r>
              <a:rPr lang="en-US" sz="11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100" dirty="0"/>
              <a:t> Możliwość wystąpienia niejasności w strukturze testowych plików JSONL, co może wydłużyć prace nad modułem 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100" dirty="0"/>
              <a:t> Ryzyko braku spójności w regułach kategoryzacji (red / yellow / green) wewnątrz modułu validator.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242C37-6F34-3925-147A-C02611900CD1}"/>
              </a:ext>
            </a:extLst>
          </p:cNvPr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926971-CA65-A8B0-9310-8B237B790744}"/>
              </a:ext>
            </a:extLst>
          </p:cNvPr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E4CA17-407B-9DDB-DB83-B2FECBB9F5AE}"/>
              </a:ext>
            </a:extLst>
          </p:cNvPr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CC5B39-2B52-2EB7-47AE-9C2FDBBBD337}"/>
              </a:ext>
            </a:extLst>
          </p:cNvPr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90325D-78D0-80A0-935E-2A261A35711D}"/>
              </a:ext>
            </a:extLst>
          </p:cNvPr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9E56E2-D222-FE47-C282-A7F25C4128C9}"/>
              </a:ext>
            </a:extLst>
          </p:cNvPr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2B530D-297A-6E32-7F6A-67F00AEAD9AE}"/>
              </a:ext>
            </a:extLst>
          </p:cNvPr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FB03A8F-7190-C53E-D683-37185F262128}"/>
              </a:ext>
            </a:extLst>
          </p:cNvPr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3E1C50-ABBF-6590-840D-16F5957B9F5E}"/>
              </a:ext>
            </a:extLst>
          </p:cNvPr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2A52A3-DC72-82BC-C629-7E0760BA1E56}"/>
              </a:ext>
            </a:extLst>
          </p:cNvPr>
          <p:cNvSpPr/>
          <p:nvPr/>
        </p:nvSpPr>
        <p:spPr>
          <a:xfrm>
            <a:off x="6345936" y="46236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BF1E34-13E8-B37D-2158-54DACB537079}"/>
              </a:ext>
            </a:extLst>
          </p:cNvPr>
          <p:cNvSpPr txBox="1"/>
          <p:nvPr/>
        </p:nvSpPr>
        <p:spPr>
          <a:xfrm>
            <a:off x="6578310" y="4539996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ko</a:t>
            </a:r>
            <a:r>
              <a:rPr lang="en-US" sz="1050" dirty="0" err="1"/>
              <a:t>mplementacja</a:t>
            </a:r>
            <a:r>
              <a:rPr lang="en-US" sz="1050" dirty="0"/>
              <a:t> validator.py (</a:t>
            </a:r>
            <a:r>
              <a:rPr lang="en-US" sz="1050" dirty="0" err="1"/>
              <a:t>kategoryzacja</a:t>
            </a:r>
            <a:r>
              <a:rPr lang="en-US" sz="1050" dirty="0"/>
              <a:t> red / yellow / green)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F9B62B-6B41-926E-3DF4-84A1047C4523}"/>
              </a:ext>
            </a:extLst>
          </p:cNvPr>
          <p:cNvSpPr/>
          <p:nvPr/>
        </p:nvSpPr>
        <p:spPr>
          <a:xfrm>
            <a:off x="6345936" y="4955590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487EAC-151A-E760-B9FE-17BA7B2E153B}"/>
              </a:ext>
            </a:extLst>
          </p:cNvPr>
          <p:cNvSpPr txBox="1"/>
          <p:nvPr/>
        </p:nvSpPr>
        <p:spPr>
          <a:xfrm>
            <a:off x="6592824" y="4871923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KM2-1: loader.py + validator.py gotowe i przetestowane </a:t>
            </a:r>
            <a:r>
              <a:rPr sz="1050" dirty="0">
                <a:solidFill>
                  <a:srgbClr val="1A1A2E"/>
                </a:solidFill>
                <a:latin typeface="Calibri"/>
              </a:rPr>
              <a:t>(Kacper)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57B8C6-C6E2-A951-62CF-6030A6D282F2}"/>
              </a:ext>
            </a:extLst>
          </p:cNvPr>
          <p:cNvSpPr/>
          <p:nvPr/>
        </p:nvSpPr>
        <p:spPr>
          <a:xfrm>
            <a:off x="6345936" y="528751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61E992-C2C3-8853-6BBC-6C24EBDA8906}"/>
              </a:ext>
            </a:extLst>
          </p:cNvPr>
          <p:cNvSpPr txBox="1"/>
          <p:nvPr/>
        </p:nvSpPr>
        <p:spPr>
          <a:xfrm>
            <a:off x="6510528" y="5203850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Konfiguracja środowiska (Python, Streamlit, Docker) (Jakub H)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9DB19D0-53D4-DA05-A6AE-2BB5F88D8E63}"/>
              </a:ext>
            </a:extLst>
          </p:cNvPr>
          <p:cNvSpPr/>
          <p:nvPr/>
        </p:nvSpPr>
        <p:spPr>
          <a:xfrm>
            <a:off x="6345936" y="5619445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D70562-94F4-B04F-05E6-11E2BE3F97DF}"/>
              </a:ext>
            </a:extLst>
          </p:cNvPr>
          <p:cNvSpPr txBox="1"/>
          <p:nvPr/>
        </p:nvSpPr>
        <p:spPr>
          <a:xfrm>
            <a:off x="6592824" y="5535777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Implementacja</a:t>
            </a:r>
            <a:r>
              <a:rPr lang="en-US" sz="1050" dirty="0"/>
              <a:t> loader.py (</a:t>
            </a:r>
            <a:r>
              <a:rPr lang="en-US" sz="1050" dirty="0" err="1"/>
              <a:t>wczytywanie</a:t>
            </a:r>
            <a:r>
              <a:rPr lang="en-US" sz="1050" dirty="0"/>
              <a:t> patients + observations JSONL)</a:t>
            </a:r>
            <a:r>
              <a:rPr lang="pl-PL" sz="1050" dirty="0"/>
              <a:t> s</a:t>
            </a:r>
            <a:r>
              <a:rPr sz="1050" dirty="0">
                <a:solidFill>
                  <a:srgbClr val="1A1A2E"/>
                </a:solidFill>
                <a:latin typeface="Calibri"/>
              </a:rPr>
              <a:t>(Oliwier)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E6A425E-91CE-EC4E-8602-2E7801D80BCB}"/>
              </a:ext>
            </a:extLst>
          </p:cNvPr>
          <p:cNvSpPr/>
          <p:nvPr/>
        </p:nvSpPr>
        <p:spPr>
          <a:xfrm>
            <a:off x="6345936" y="5951372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7241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18EE-CA89-99E5-B229-32B7BCB7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AB674-6C7D-9BE7-9761-995F57C53D09}"/>
              </a:ext>
            </a:extLst>
          </p:cNvPr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07C192-69D2-8A3B-5052-A1DDF6ABA82B}"/>
              </a:ext>
            </a:extLst>
          </p:cNvPr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37936-F4E5-3B69-99DF-17C2141186B8}"/>
              </a:ext>
            </a:extLst>
          </p:cNvPr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85257-2999-01D8-BC84-1DD61CC5DE83}"/>
              </a:ext>
            </a:extLst>
          </p:cNvPr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7E24B-FF02-A703-FC70-0E68D7535F43}"/>
              </a:ext>
            </a:extLst>
          </p:cNvPr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1CBEC-F675-00D5-A3EE-CC1118E35DEC}"/>
              </a:ext>
            </a:extLst>
          </p:cNvPr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9190F-A5A9-7832-9E9A-2C55A6F5F091}"/>
              </a:ext>
            </a:extLst>
          </p:cNvPr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80982-CC5F-3A11-2974-E80DE7DDBBE6}"/>
              </a:ext>
            </a:extLst>
          </p:cNvPr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C296A-00B6-8AD6-1A47-9475DEF7DBBC}"/>
              </a:ext>
            </a:extLst>
          </p:cNvPr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81114-4791-CA3C-DCC2-BDAEC994D3F1}"/>
              </a:ext>
            </a:extLst>
          </p:cNvPr>
          <p:cNvSpPr txBox="1"/>
          <p:nvPr/>
        </p:nvSpPr>
        <p:spPr>
          <a:xfrm>
            <a:off x="9400032" y="365760"/>
            <a:ext cx="102412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Calibri"/>
              </a:rPr>
              <a:t>01.0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4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–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30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4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80278-A741-82C0-3E1B-0645C464F3FD}"/>
              </a:ext>
            </a:extLst>
          </p:cNvPr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14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A51E85-6FF1-6318-ACF2-30BFEDB68183}"/>
              </a:ext>
            </a:extLst>
          </p:cNvPr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C0792-2860-AD7A-D0F7-03DA756678DB}"/>
              </a:ext>
            </a:extLst>
          </p:cNvPr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Zakończony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7E4174-7862-F096-2F29-EC5DBA8F3788}"/>
              </a:ext>
            </a:extLst>
          </p:cNvPr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0833F5-5CDD-A7E4-B8BE-C569DC2F2614}"/>
              </a:ext>
            </a:extLst>
          </p:cNvPr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1D2F9C-1AD3-FBCD-E221-B0AD03938511}"/>
              </a:ext>
            </a:extLst>
          </p:cNvPr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2AD4DF-89A9-9001-9C18-E08ACE972651}"/>
              </a:ext>
            </a:extLst>
          </p:cNvPr>
          <p:cNvSpPr txBox="1"/>
          <p:nvPr/>
        </p:nvSpPr>
        <p:spPr>
          <a:xfrm>
            <a:off x="457200" y="1417320"/>
            <a:ext cx="5385816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lang="pl-PL" sz="1200" dirty="0"/>
              <a:t>Osiągnięcie KM2-1: moduły loader i validator gotowe oraz przetestowane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(Kacper)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Wdrożenie kategoryzacji (red / yellow / green) w validator.py.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(Jakub P)</a:t>
            </a:r>
          </a:p>
          <a:p>
            <a:pPr>
              <a:spcBef>
                <a:spcPts val="1700"/>
              </a:spcBef>
            </a:pPr>
            <a:r>
              <a:rPr lang="pl-PL" sz="1200" dirty="0"/>
              <a:t>Implementacja logiki wczytywania danych JSONL – loader.py</a:t>
            </a:r>
            <a:r>
              <a:rPr sz="1200" dirty="0">
                <a:solidFill>
                  <a:srgbClr val="1A1A2E"/>
                </a:solidFill>
                <a:latin typeface="Calibri"/>
              </a:rPr>
              <a:t>(Oliwier)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Konfiguracja środowiska bazowego: Python, Streamlit, Docker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(Jakub H)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BA3C5E-FDB5-4DDA-29E3-431FFEBBB30F}"/>
              </a:ext>
            </a:extLst>
          </p:cNvPr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165DA9-2A18-6A93-CCE2-1D743AB6D100}"/>
              </a:ext>
            </a:extLst>
          </p:cNvPr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9370EF-5848-2A56-4DD0-70323F25847F}"/>
              </a:ext>
            </a:extLst>
          </p:cNvPr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1F608A-5E2D-F1CF-42BA-12E7066A8B93}"/>
              </a:ext>
            </a:extLst>
          </p:cNvPr>
          <p:cNvSpPr txBox="1"/>
          <p:nvPr/>
        </p:nvSpPr>
        <p:spPr>
          <a:xfrm>
            <a:off x="6318504" y="1417320"/>
            <a:ext cx="5385816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</a:t>
            </a:r>
            <a:r>
              <a:rPr lang="pl-PL" sz="1200" dirty="0"/>
              <a:t> Poprawki modułów na podstawie uwag od opiekuna 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200" dirty="0" err="1"/>
              <a:t>Implementacja</a:t>
            </a:r>
            <a:r>
              <a:rPr lang="en-US" sz="1200" dirty="0"/>
              <a:t> exporter.py (clean JSONL + </a:t>
            </a:r>
            <a:r>
              <a:rPr lang="en-US" sz="1200" dirty="0" err="1"/>
              <a:t>raport</a:t>
            </a:r>
            <a:r>
              <a:rPr lang="en-US" sz="1200" dirty="0"/>
              <a:t> CSV z BOM) </a:t>
            </a:r>
            <a:endParaRPr lang="pl-PL" sz="1200" dirty="0"/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200" dirty="0" err="1"/>
              <a:t>Implementacja</a:t>
            </a:r>
            <a:r>
              <a:rPr lang="en-US" sz="1200" dirty="0"/>
              <a:t> app.py — </a:t>
            </a:r>
            <a:r>
              <a:rPr lang="en-US" sz="1200" dirty="0" err="1"/>
              <a:t>screen_upload</a:t>
            </a:r>
            <a:r>
              <a:rPr lang="en-US" sz="1200" dirty="0"/>
              <a:t> (import </a:t>
            </a:r>
            <a:r>
              <a:rPr lang="en-US" sz="1200" dirty="0" err="1"/>
              <a:t>plików</a:t>
            </a:r>
            <a:r>
              <a:rPr lang="en-US" sz="1200" dirty="0"/>
              <a:t> JSONL) </a:t>
            </a:r>
            <a:endParaRPr lang="pl-PL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DC3AEE-62C7-DDD8-3EC0-D2539F4262BF}"/>
              </a:ext>
            </a:extLst>
          </p:cNvPr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EF31D0-590B-1CE4-F0F8-2E1F2461A6AC}"/>
              </a:ext>
            </a:extLst>
          </p:cNvPr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B3224E-3E80-2FF6-AED3-60104C3C010E}"/>
              </a:ext>
            </a:extLst>
          </p:cNvPr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E4B37D-F2C6-5D99-5C01-11F41F278D5F}"/>
              </a:ext>
            </a:extLst>
          </p:cNvPr>
          <p:cNvSpPr txBox="1"/>
          <p:nvPr/>
        </p:nvSpPr>
        <p:spPr>
          <a:xfrm>
            <a:off x="457200" y="4283964"/>
            <a:ext cx="5385816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napotkania nietypowych jednostek miar, które mogą być trudniejsze do automatycznej normalizacji na standard UCUM.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100" dirty="0"/>
              <a:t>Ryzyko wykrycia luk w danych testowych, co może opóźnić prace nad poprawnym mapowaniem zakresów LOINC.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występowania błędów (false-positives) w detekcji outlierów przez moduł quality_control.py.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5E1C0-3721-5411-E786-73733DB0BA7E}"/>
              </a:ext>
            </a:extLst>
          </p:cNvPr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F81DCA-151F-921D-DCE9-FA87502B9DC8}"/>
              </a:ext>
            </a:extLst>
          </p:cNvPr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62538-B389-E255-BC0A-248898A7FB73}"/>
              </a:ext>
            </a:extLst>
          </p:cNvPr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25D5EA3-14FF-A55D-FDF8-56CAD99A4012}"/>
              </a:ext>
            </a:extLst>
          </p:cNvPr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C1BD6-CDC7-4D08-89CC-E491CD3D0D44}"/>
              </a:ext>
            </a:extLst>
          </p:cNvPr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0536CA-CCD7-541B-A5A5-52377CFC61DE}"/>
              </a:ext>
            </a:extLst>
          </p:cNvPr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2AB35C-B1FC-93FE-067B-9CCD945023C3}"/>
              </a:ext>
            </a:extLst>
          </p:cNvPr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97CA007-C4B2-B8F5-A5FC-05B41EC4E630}"/>
              </a:ext>
            </a:extLst>
          </p:cNvPr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3F6692-710E-35B8-4CB2-ACB648B42A53}"/>
              </a:ext>
            </a:extLst>
          </p:cNvPr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5BDB0D-315B-C166-F74C-A5A5F7341C66}"/>
              </a:ext>
            </a:extLst>
          </p:cNvPr>
          <p:cNvSpPr/>
          <p:nvPr/>
        </p:nvSpPr>
        <p:spPr>
          <a:xfrm>
            <a:off x="6345936" y="46236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37195D-FE58-0B43-3A9B-E6F129E5E0B3}"/>
              </a:ext>
            </a:extLst>
          </p:cNvPr>
          <p:cNvSpPr txBox="1"/>
          <p:nvPr/>
        </p:nvSpPr>
        <p:spPr>
          <a:xfrm>
            <a:off x="6592824" y="4539996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Konfiguracja reference_ranges.json (zakresy referencyjne LOINC) (Jakub P)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AF2D37B-4B50-F9D1-49D0-CE58D7BF544C}"/>
              </a:ext>
            </a:extLst>
          </p:cNvPr>
          <p:cNvSpPr/>
          <p:nvPr/>
        </p:nvSpPr>
        <p:spPr>
          <a:xfrm>
            <a:off x="6345936" y="4955590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64E0F3-19F4-6A0F-8AF4-1217809C57EF}"/>
              </a:ext>
            </a:extLst>
          </p:cNvPr>
          <p:cNvSpPr txBox="1"/>
          <p:nvPr/>
        </p:nvSpPr>
        <p:spPr>
          <a:xfrm>
            <a:off x="6592824" y="4871923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  <a:latin typeface="Calibri"/>
              </a:rPr>
              <a:t>Mechanizmy bezpieczeństwa i zgodność RODO (Kacper)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EBB502-DFEF-45D1-F1A4-50A52D985DBE}"/>
              </a:ext>
            </a:extLst>
          </p:cNvPr>
          <p:cNvSpPr/>
          <p:nvPr/>
        </p:nvSpPr>
        <p:spPr>
          <a:xfrm>
            <a:off x="6345936" y="528751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B2409C-D48E-E2B4-A212-5F447EB72E3E}"/>
              </a:ext>
            </a:extLst>
          </p:cNvPr>
          <p:cNvSpPr txBox="1"/>
          <p:nvPr/>
        </p:nvSpPr>
        <p:spPr>
          <a:xfrm>
            <a:off x="6592824" y="5203850"/>
            <a:ext cx="5074920" cy="33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1A1A2E"/>
                </a:solidFill>
                <a:latin typeface="Calibri"/>
              </a:rPr>
              <a:t>Analiza </a:t>
            </a:r>
            <a:r>
              <a:rPr sz="1050" dirty="0" err="1">
                <a:solidFill>
                  <a:srgbClr val="1A1A2E"/>
                </a:solidFill>
                <a:latin typeface="Calibri"/>
              </a:rPr>
              <a:t>ryzyk</a:t>
            </a:r>
            <a:r>
              <a:rPr sz="1050" dirty="0">
                <a:solidFill>
                  <a:srgbClr val="1A1A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A2E"/>
                </a:solidFill>
                <a:latin typeface="Calibri"/>
              </a:rPr>
              <a:t>projektowych</a:t>
            </a:r>
            <a:r>
              <a:rPr sz="1050" dirty="0">
                <a:solidFill>
                  <a:srgbClr val="1A1A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1050" dirty="0">
                <a:solidFill>
                  <a:srgbClr val="1A1A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A2E"/>
                </a:solidFill>
                <a:latin typeface="Calibri"/>
              </a:rPr>
              <a:t>harmonogram</a:t>
            </a:r>
            <a:r>
              <a:rPr sz="1050" dirty="0">
                <a:solidFill>
                  <a:srgbClr val="1A1A2E"/>
                </a:solidFill>
                <a:latin typeface="Calibri"/>
              </a:rPr>
              <a:t> </a:t>
            </a:r>
            <a:r>
              <a:rPr sz="1050" dirty="0" err="1">
                <a:solidFill>
                  <a:srgbClr val="1A1A2E"/>
                </a:solidFill>
                <a:latin typeface="Calibri"/>
              </a:rPr>
              <a:t>wdrożenia</a:t>
            </a:r>
            <a:r>
              <a:rPr sz="1050" dirty="0">
                <a:solidFill>
                  <a:srgbClr val="1A1A2E"/>
                </a:solidFill>
                <a:latin typeface="Calibri"/>
              </a:rPr>
              <a:t> (Jakub H)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761E6D-91F7-66F2-DA4A-E3D821711500}"/>
              </a:ext>
            </a:extLst>
          </p:cNvPr>
          <p:cNvSpPr/>
          <p:nvPr/>
        </p:nvSpPr>
        <p:spPr>
          <a:xfrm>
            <a:off x="6345936" y="5619445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7AD1B7-DC40-DF74-3550-DB9D40A9F457}"/>
              </a:ext>
            </a:extLst>
          </p:cNvPr>
          <p:cNvSpPr txBox="1"/>
          <p:nvPr/>
        </p:nvSpPr>
        <p:spPr>
          <a:xfrm>
            <a:off x="6592824" y="5535777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Implementacja standardizer.py (normalizacja jednostek UCUM) (Oliwier)</a:t>
            </a:r>
          </a:p>
        </p:txBody>
      </p:sp>
    </p:spTree>
    <p:extLst>
      <p:ext uri="{BB962C8B-B14F-4D97-AF65-F5344CB8AC3E}">
        <p14:creationId xmlns:p14="http://schemas.microsoft.com/office/powerpoint/2010/main" val="174826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3896-CC20-B48B-3A2C-9C188F85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5207F-44F7-AD92-BB74-0420CFBD5583}"/>
              </a:ext>
            </a:extLst>
          </p:cNvPr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2AC36A-9FB6-4476-C832-0A5D00058A01}"/>
              </a:ext>
            </a:extLst>
          </p:cNvPr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F3F33-A693-7D05-6286-A4FDB7C9B341}"/>
              </a:ext>
            </a:extLst>
          </p:cNvPr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CAAA2-5E13-81BD-2D1D-F4EB6B21FF01}"/>
              </a:ext>
            </a:extLst>
          </p:cNvPr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0C9BCC-FF46-C2B7-D593-372448FB43D3}"/>
              </a:ext>
            </a:extLst>
          </p:cNvPr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0DD47-4923-25AB-5C9E-789193DF9212}"/>
              </a:ext>
            </a:extLst>
          </p:cNvPr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D967E-118C-A113-C296-25D7B57D900D}"/>
              </a:ext>
            </a:extLst>
          </p:cNvPr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F8B349-FA97-3F61-1EF6-E3252967F8D8}"/>
              </a:ext>
            </a:extLst>
          </p:cNvPr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92556-6A40-FD0B-A2A9-AB9F4EC9B9BA}"/>
              </a:ext>
            </a:extLst>
          </p:cNvPr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A4B1A-C307-F243-C184-7A8188101544}"/>
              </a:ext>
            </a:extLst>
          </p:cNvPr>
          <p:cNvSpPr txBox="1"/>
          <p:nvPr/>
        </p:nvSpPr>
        <p:spPr>
          <a:xfrm>
            <a:off x="9400032" y="365760"/>
            <a:ext cx="102412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Calibri"/>
              </a:rPr>
              <a:t>01.0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5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–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31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5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B27E1-F9CC-DE60-B05A-890B7569DE13}"/>
              </a:ext>
            </a:extLst>
          </p:cNvPr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14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FC70F-F4F0-EC26-7E0C-0D928DD31FC3}"/>
              </a:ext>
            </a:extLst>
          </p:cNvPr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FC565-69B5-F268-682E-F3FC4DCCA5A2}"/>
              </a:ext>
            </a:extLst>
          </p:cNvPr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Zakończony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E546C5-EAFE-8435-233E-25FEF72528EE}"/>
              </a:ext>
            </a:extLst>
          </p:cNvPr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93996F-EB06-50D7-3665-A05385603E78}"/>
              </a:ext>
            </a:extLst>
          </p:cNvPr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859C2C-FE7D-1125-6BF5-DFD291EC1779}"/>
              </a:ext>
            </a:extLst>
          </p:cNvPr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809CE2-3E99-CDF0-B0F5-7985B0E48D9F}"/>
              </a:ext>
            </a:extLst>
          </p:cNvPr>
          <p:cNvSpPr txBox="1"/>
          <p:nvPr/>
        </p:nvSpPr>
        <p:spPr>
          <a:xfrm>
            <a:off x="457200" y="1417320"/>
            <a:ext cx="538581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Zbudowanie logiki modułu enricher.py z interpretacją wyników (Kacper)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Opracowanie bazy zakresów w pliku reference_ranges.json (Jakub P)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Stworzenie modułu standardizer.py i mechanizmów normalizacji UCUM (Oliwier)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Wdrożenie mechanizmu detekcji outlierów oraz realizacja KM2-2 (Jakub H)</a:t>
            </a:r>
          </a:p>
          <a:p>
            <a:pPr>
              <a:spcBef>
                <a:spcPts val="1700"/>
              </a:spcBef>
            </a:pPr>
            <a:endParaRPr sz="12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505FE9-C027-82E0-C71C-A2ED3B624285}"/>
              </a:ext>
            </a:extLst>
          </p:cNvPr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5823AF-09B7-1EF6-E3C2-667FAC00057F}"/>
              </a:ext>
            </a:extLst>
          </p:cNvPr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1BB87D-F72D-2063-CBFB-0840F3DA9CF8}"/>
              </a:ext>
            </a:extLst>
          </p:cNvPr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8A0D30-F4F3-ACD0-278F-040E6B28ACB5}"/>
              </a:ext>
            </a:extLst>
          </p:cNvPr>
          <p:cNvSpPr txBox="1"/>
          <p:nvPr/>
        </p:nvSpPr>
        <p:spPr>
          <a:xfrm>
            <a:off x="6318504" y="1417320"/>
            <a:ext cx="5385816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en-US" sz="1200" dirty="0"/>
              <a:t>Testy end-to-end: import JSONL → </a:t>
            </a:r>
            <a:r>
              <a:rPr lang="en-US" sz="1200" dirty="0" err="1"/>
              <a:t>eksport</a:t>
            </a:r>
            <a:r>
              <a:rPr lang="en-US" sz="1200" dirty="0"/>
              <a:t> clean JSONL + CSV </a:t>
            </a:r>
            <a:endParaRPr lang="pl-PL" sz="1200" dirty="0"/>
          </a:p>
          <a:p>
            <a:pPr>
              <a:spcBef>
                <a:spcPts val="1700"/>
              </a:spcBef>
            </a:pPr>
            <a:r>
              <a:rPr lang="en-US" sz="1200" dirty="0">
                <a:solidFill>
                  <a:srgbClr val="1A1A2E"/>
                </a:solidFill>
              </a:rPr>
              <a:t>▸ </a:t>
            </a:r>
            <a:r>
              <a:rPr lang="pl-PL" sz="1200" dirty="0">
                <a:solidFill>
                  <a:srgbClr val="1A1A2E"/>
                </a:solidFill>
              </a:rPr>
              <a:t> </a:t>
            </a:r>
            <a:r>
              <a:rPr lang="pl-PL" sz="1200" dirty="0"/>
              <a:t>Testy wydajnościowe systemu: przetwarzanie 10 000+ rekordów Observation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 </a:t>
            </a:r>
            <a:r>
              <a:rPr lang="pl-PL" sz="1200" dirty="0"/>
              <a:t>Zakończenie weryfikacji kryteriów i akceptacji PoC 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Oficjalny odbiór projektu (KM2-4) po akceptacji przez opiekuna </a:t>
            </a:r>
            <a:endParaRPr sz="12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0B4062-2CEC-720C-6796-B928C6F8C9A1}"/>
              </a:ext>
            </a:extLst>
          </p:cNvPr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1413F8-76D0-BD65-4161-6CF511596942}"/>
              </a:ext>
            </a:extLst>
          </p:cNvPr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01F0A-40EA-1E81-B5C8-1290243CECD0}"/>
              </a:ext>
            </a:extLst>
          </p:cNvPr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FA3C64-170B-107B-EF69-DAF94A333B6C}"/>
              </a:ext>
            </a:extLst>
          </p:cNvPr>
          <p:cNvSpPr txBox="1"/>
          <p:nvPr/>
        </p:nvSpPr>
        <p:spPr>
          <a:xfrm>
            <a:off x="457200" y="4283964"/>
            <a:ext cx="5385816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problemów z polskimi znakami przy braku odpowiedniego wymuszenia kodowania z BOM dla wyjściowych plików CSV. 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obniżenia wydajności / zacinania interfejsu (screen_review) w bibliotece Streamlit przy ładowaniu bardzo obszernych tabel w przeglądarce. 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braku czasu na przetestowanie ewentualnych rozległych poprawek przed wdrożeniem ekranów interfejsu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F207A5-F697-4693-4010-EDCD26A8CC71}"/>
              </a:ext>
            </a:extLst>
          </p:cNvPr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5AC78E-A55B-6A9C-A9F6-A6351C977298}"/>
              </a:ext>
            </a:extLst>
          </p:cNvPr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BB6B67-8F9D-7EF2-CC01-93DD9C6577CD}"/>
              </a:ext>
            </a:extLst>
          </p:cNvPr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5341EF-90CD-D263-485E-4EB127CBD7A9}"/>
              </a:ext>
            </a:extLst>
          </p:cNvPr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616501-80FC-C4B0-8109-FD72676B8B5E}"/>
              </a:ext>
            </a:extLst>
          </p:cNvPr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A9FA233-1312-DDCA-C8F1-B05749177577}"/>
              </a:ext>
            </a:extLst>
          </p:cNvPr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C4A15F-34F2-1076-A6D8-8DD1C6F31702}"/>
              </a:ext>
            </a:extLst>
          </p:cNvPr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3A5CCCB-2E40-D165-A6CD-1A8AD491CAD5}"/>
              </a:ext>
            </a:extLst>
          </p:cNvPr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79707A-68BC-1504-FFD5-BA888083BABE}"/>
              </a:ext>
            </a:extLst>
          </p:cNvPr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C88FD9A-DDDB-55B6-EAB8-37A46817E6B6}"/>
              </a:ext>
            </a:extLst>
          </p:cNvPr>
          <p:cNvSpPr/>
          <p:nvPr/>
        </p:nvSpPr>
        <p:spPr>
          <a:xfrm>
            <a:off x="6345936" y="46236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620175-92D4-7023-4343-74105ACACC1E}"/>
              </a:ext>
            </a:extLst>
          </p:cNvPr>
          <p:cNvSpPr txBox="1"/>
          <p:nvPr/>
        </p:nvSpPr>
        <p:spPr>
          <a:xfrm>
            <a:off x="6592824" y="4539996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I</a:t>
            </a:r>
            <a:r>
              <a:rPr lang="en-US" sz="1050" dirty="0" err="1"/>
              <a:t>mplementacja</a:t>
            </a:r>
            <a:r>
              <a:rPr lang="en-US" sz="1050" dirty="0"/>
              <a:t> exporter.py (clean JSONL + </a:t>
            </a:r>
            <a:r>
              <a:rPr lang="en-US" sz="1050" dirty="0" err="1"/>
              <a:t>raport</a:t>
            </a:r>
            <a:r>
              <a:rPr lang="en-US" sz="1050" dirty="0"/>
              <a:t> CSV z BOM) (Jakub P)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838107E-B63D-4960-2EEF-FD69DB88A18E}"/>
              </a:ext>
            </a:extLst>
          </p:cNvPr>
          <p:cNvSpPr/>
          <p:nvPr/>
        </p:nvSpPr>
        <p:spPr>
          <a:xfrm>
            <a:off x="6345936" y="4955590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DC3BDE-720D-65B8-307E-2D5E2203CE80}"/>
              </a:ext>
            </a:extLst>
          </p:cNvPr>
          <p:cNvSpPr txBox="1"/>
          <p:nvPr/>
        </p:nvSpPr>
        <p:spPr>
          <a:xfrm>
            <a:off x="6592824" y="4871923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KM2-3: </a:t>
            </a:r>
            <a:r>
              <a:rPr lang="en-US" sz="1050" dirty="0" err="1"/>
              <a:t>Interfejs</a:t>
            </a:r>
            <a:r>
              <a:rPr lang="en-US" sz="1050" dirty="0"/>
              <a:t> app.py + exporter.py </a:t>
            </a:r>
            <a:r>
              <a:rPr lang="en-US" sz="1050" dirty="0" err="1"/>
              <a:t>gotowe</a:t>
            </a:r>
            <a:r>
              <a:rPr lang="en-US" sz="1050" dirty="0"/>
              <a:t> — demo </a:t>
            </a:r>
            <a:r>
              <a:rPr lang="en-US" sz="1050" dirty="0" err="1"/>
              <a:t>możliwe</a:t>
            </a:r>
            <a:r>
              <a:rPr lang="en-US" sz="1050" dirty="0"/>
              <a:t> (Kacper)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C67D74A-33C6-DCF0-B4CF-8EA10685A34B}"/>
              </a:ext>
            </a:extLst>
          </p:cNvPr>
          <p:cNvSpPr/>
          <p:nvPr/>
        </p:nvSpPr>
        <p:spPr>
          <a:xfrm>
            <a:off x="6345936" y="528751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DDEEBB-C9D0-4A5F-0C6A-D17F990DEAE6}"/>
              </a:ext>
            </a:extLst>
          </p:cNvPr>
          <p:cNvSpPr txBox="1"/>
          <p:nvPr/>
        </p:nvSpPr>
        <p:spPr>
          <a:xfrm>
            <a:off x="6592824" y="5203850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Implementacja</a:t>
            </a:r>
            <a:r>
              <a:rPr lang="en-US" sz="1050" dirty="0"/>
              <a:t> app.py — </a:t>
            </a:r>
            <a:r>
              <a:rPr lang="en-US" sz="1050" dirty="0" err="1"/>
              <a:t>screen_export</a:t>
            </a:r>
            <a:r>
              <a:rPr lang="en-US" sz="1050" dirty="0"/>
              <a:t>, </a:t>
            </a:r>
            <a:r>
              <a:rPr lang="en-US" sz="1050" dirty="0" err="1"/>
              <a:t>metryki</a:t>
            </a:r>
            <a:r>
              <a:rPr lang="en-US" sz="1050" dirty="0"/>
              <a:t>, </a:t>
            </a:r>
            <a:r>
              <a:rPr lang="en-US" sz="1050" dirty="0" err="1"/>
              <a:t>poprawki</a:t>
            </a:r>
            <a:r>
              <a:rPr lang="en-US" sz="1050" dirty="0"/>
              <a:t> (Jakub H)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76EBE2-B368-EF0D-078A-90F9019F6AFF}"/>
              </a:ext>
            </a:extLst>
          </p:cNvPr>
          <p:cNvSpPr/>
          <p:nvPr/>
        </p:nvSpPr>
        <p:spPr>
          <a:xfrm>
            <a:off x="6345936" y="5619445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38EAB1-245F-7ABC-D0F0-4D74AD1AFE81}"/>
              </a:ext>
            </a:extLst>
          </p:cNvPr>
          <p:cNvSpPr txBox="1"/>
          <p:nvPr/>
        </p:nvSpPr>
        <p:spPr>
          <a:xfrm>
            <a:off x="6592824" y="5535777"/>
            <a:ext cx="5074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Implementacja</a:t>
            </a:r>
            <a:r>
              <a:rPr lang="en-US" sz="1050" dirty="0"/>
              <a:t> app.py — </a:t>
            </a:r>
            <a:r>
              <a:rPr lang="en-US" sz="1050" dirty="0" err="1"/>
              <a:t>screen_upload</a:t>
            </a:r>
            <a:r>
              <a:rPr lang="en-US" sz="1050" dirty="0"/>
              <a:t> </a:t>
            </a:r>
            <a:r>
              <a:rPr lang="en-US" sz="1050" dirty="0" err="1"/>
              <a:t>oraz</a:t>
            </a:r>
            <a:r>
              <a:rPr lang="en-US" sz="1050" dirty="0"/>
              <a:t> </a:t>
            </a:r>
            <a:r>
              <a:rPr lang="en-US" sz="1050" dirty="0" err="1"/>
              <a:t>screen_review</a:t>
            </a:r>
            <a:r>
              <a:rPr lang="en-US" sz="1050" dirty="0"/>
              <a:t> (</a:t>
            </a:r>
            <a:r>
              <a:rPr lang="en-US" sz="1050" dirty="0" err="1"/>
              <a:t>tabela</a:t>
            </a:r>
            <a:r>
              <a:rPr lang="en-US" sz="1050" dirty="0"/>
              <a:t>, </a:t>
            </a:r>
            <a:r>
              <a:rPr lang="en-US" sz="1050" dirty="0" err="1"/>
              <a:t>filtry</a:t>
            </a:r>
            <a:r>
              <a:rPr lang="en-US" sz="1050" dirty="0"/>
              <a:t>, </a:t>
            </a:r>
            <a:r>
              <a:rPr lang="en-US" sz="1050" dirty="0" err="1"/>
              <a:t>paginacja</a:t>
            </a:r>
            <a:r>
              <a:rPr lang="en-US" sz="1050" dirty="0"/>
              <a:t>) (Oliwier)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52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3417-2D46-3632-7E23-56D17E39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654904-3450-333C-2F09-6EBD98014566}"/>
              </a:ext>
            </a:extLst>
          </p:cNvPr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13ABE9-D0E7-D446-24C9-8DFBD92BBD7A}"/>
              </a:ext>
            </a:extLst>
          </p:cNvPr>
          <p:cNvSpPr/>
          <p:nvPr/>
        </p:nvSpPr>
        <p:spPr>
          <a:xfrm>
            <a:off x="109728" y="146304"/>
            <a:ext cx="36576" cy="576072"/>
          </a:xfrm>
          <a:prstGeom prst="rect">
            <a:avLst/>
          </a:prstGeom>
          <a:solidFill>
            <a:srgbClr val="5B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E0156-74CF-21BA-D142-5AB85A88D124}"/>
              </a:ext>
            </a:extLst>
          </p:cNvPr>
          <p:cNvSpPr txBox="1"/>
          <p:nvPr/>
        </p:nvSpPr>
        <p:spPr>
          <a:xfrm>
            <a:off x="228600" y="822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System kontroli jakości i standaryzacji danych laboratoryjnych w standardzie HL7 FHIR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2E179-EDE8-BC7F-3C49-13BF867DAA3C}"/>
              </a:ext>
            </a:extLst>
          </p:cNvPr>
          <p:cNvSpPr txBox="1"/>
          <p:nvPr/>
        </p:nvSpPr>
        <p:spPr>
          <a:xfrm>
            <a:off x="22860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8C8E8"/>
                </a:solidFill>
                <a:latin typeface="Calibri"/>
              </a:rPr>
              <a:t>Projekt wdrożeniowy  |  Kierunek: Informatyka  |  GUMed 2025/2026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19DED-8815-32BD-AFD1-988F7B9F7502}"/>
              </a:ext>
            </a:extLst>
          </p:cNvPr>
          <p:cNvSpPr/>
          <p:nvPr/>
        </p:nvSpPr>
        <p:spPr>
          <a:xfrm>
            <a:off x="7863840" y="146304"/>
            <a:ext cx="1170432" cy="566928"/>
          </a:xfrm>
          <a:prstGeom prst="rect">
            <a:avLst/>
          </a:prstGeom>
          <a:solidFill>
            <a:srgbClr val="1E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48999-1B0E-705A-729E-ABE86D770A8F}"/>
              </a:ext>
            </a:extLst>
          </p:cNvPr>
          <p:cNvSpPr txBox="1"/>
          <p:nvPr/>
        </p:nvSpPr>
        <p:spPr>
          <a:xfrm>
            <a:off x="79369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PM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63DB1-B1B2-43A5-BBAD-FD28308888BC}"/>
              </a:ext>
            </a:extLst>
          </p:cNvPr>
          <p:cNvSpPr txBox="1"/>
          <p:nvPr/>
        </p:nvSpPr>
        <p:spPr>
          <a:xfrm>
            <a:off x="79369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Jakub Hermanowicz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C4889B-BA41-B651-1B30-58CCB37C5681}"/>
              </a:ext>
            </a:extLst>
          </p:cNvPr>
          <p:cNvSpPr/>
          <p:nvPr/>
        </p:nvSpPr>
        <p:spPr>
          <a:xfrm>
            <a:off x="9326880" y="146304"/>
            <a:ext cx="1170432" cy="566928"/>
          </a:xfrm>
          <a:prstGeom prst="rect">
            <a:avLst/>
          </a:prstGeom>
          <a:solidFill>
            <a:srgbClr val="0D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16DEF-65DC-0299-68E0-E945EEA832EF}"/>
              </a:ext>
            </a:extLst>
          </p:cNvPr>
          <p:cNvSpPr txBox="1"/>
          <p:nvPr/>
        </p:nvSpPr>
        <p:spPr>
          <a:xfrm>
            <a:off x="940003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Okres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8A0CB-2BDD-E69B-BF62-9547920DF29B}"/>
              </a:ext>
            </a:extLst>
          </p:cNvPr>
          <p:cNvSpPr txBox="1"/>
          <p:nvPr/>
        </p:nvSpPr>
        <p:spPr>
          <a:xfrm>
            <a:off x="9400032" y="365760"/>
            <a:ext cx="102412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dirty="0">
                <a:solidFill>
                  <a:srgbClr val="FFFFFF"/>
                </a:solidFill>
                <a:latin typeface="Calibri"/>
              </a:rPr>
              <a:t>01.0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6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–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30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.0</a:t>
            </a:r>
            <a:r>
              <a:rPr lang="pl-PL" sz="750" b="1" dirty="0">
                <a:solidFill>
                  <a:srgbClr val="FFFFFF"/>
                </a:solidFill>
                <a:latin typeface="Calibri"/>
              </a:rPr>
              <a:t>6</a:t>
            </a:r>
            <a:r>
              <a:rPr sz="750" b="1" dirty="0">
                <a:solidFill>
                  <a:srgbClr val="FFFFFF"/>
                </a:solidFill>
                <a:latin typeface="Calibri"/>
              </a:rPr>
              <a:t>.2026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4FC59-4B78-767A-B47C-828960A94CBD}"/>
              </a:ext>
            </a:extLst>
          </p:cNvPr>
          <p:cNvSpPr/>
          <p:nvPr/>
        </p:nvSpPr>
        <p:spPr>
          <a:xfrm>
            <a:off x="10835640" y="146304"/>
            <a:ext cx="1170432" cy="566928"/>
          </a:xfrm>
          <a:prstGeom prst="rect">
            <a:avLst/>
          </a:prstGeom>
          <a:solidFill>
            <a:srgbClr val="14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E13F1-A29B-9610-F89D-CA0E42328A59}"/>
              </a:ext>
            </a:extLst>
          </p:cNvPr>
          <p:cNvSpPr txBox="1"/>
          <p:nvPr/>
        </p:nvSpPr>
        <p:spPr>
          <a:xfrm>
            <a:off x="10908792" y="173736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DDFF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1EAA9-09C0-A8D8-17DE-88D2A34A2F50}"/>
              </a:ext>
            </a:extLst>
          </p:cNvPr>
          <p:cNvSpPr txBox="1"/>
          <p:nvPr/>
        </p:nvSpPr>
        <p:spPr>
          <a:xfrm>
            <a:off x="10908792" y="365760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Zakończony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8F717-B38A-0B35-E5CF-EFF7A78A9B26}"/>
              </a:ext>
            </a:extLst>
          </p:cNvPr>
          <p:cNvSpPr/>
          <p:nvPr/>
        </p:nvSpPr>
        <p:spPr>
          <a:xfrm>
            <a:off x="274320" y="960120"/>
            <a:ext cx="5751576" cy="2756916"/>
          </a:xfrm>
          <a:prstGeom prst="rect">
            <a:avLst/>
          </a:prstGeom>
          <a:solidFill>
            <a:srgbClr val="EAF3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42ADFC-C4BD-49D7-CB2C-7A9666C62EB2}"/>
              </a:ext>
            </a:extLst>
          </p:cNvPr>
          <p:cNvSpPr/>
          <p:nvPr/>
        </p:nvSpPr>
        <p:spPr>
          <a:xfrm>
            <a:off x="274320" y="960120"/>
            <a:ext cx="5751576" cy="347472"/>
          </a:xfrm>
          <a:prstGeom prst="rect">
            <a:avLst/>
          </a:prstGeom>
          <a:solidFill>
            <a:srgbClr val="1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B3663-DC15-ABC2-593B-DC29086CC028}"/>
              </a:ext>
            </a:extLst>
          </p:cNvPr>
          <p:cNvSpPr txBox="1"/>
          <p:nvPr/>
        </p:nvSpPr>
        <p:spPr>
          <a:xfrm>
            <a:off x="457200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✔  Co zrobiono w poprzednim miesiącu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7DCAA-AD7A-43D5-8EFF-5B12C9ACA4C7}"/>
              </a:ext>
            </a:extLst>
          </p:cNvPr>
          <p:cNvSpPr txBox="1"/>
          <p:nvPr/>
        </p:nvSpPr>
        <p:spPr>
          <a:xfrm>
            <a:off x="457200" y="1417320"/>
            <a:ext cx="5385816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Pomyślne osiągnięcie KM2-3 ze stabilną wersją demo systemu (Kacper) 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Utworzenie mechanizmu eksportu do JSONL oraz CSV z BOM (Jakub P) </a:t>
            </a:r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200" dirty="0" err="1"/>
              <a:t>Zbudowanie</a:t>
            </a:r>
            <a:r>
              <a:rPr lang="en-US" sz="1200" dirty="0"/>
              <a:t> </a:t>
            </a:r>
            <a:r>
              <a:rPr lang="en-US" sz="1200" dirty="0" err="1"/>
              <a:t>kompletnego</a:t>
            </a:r>
            <a:r>
              <a:rPr lang="en-US" sz="1200" dirty="0"/>
              <a:t> </a:t>
            </a:r>
            <a:r>
              <a:rPr lang="en-US" sz="1200" dirty="0" err="1"/>
              <a:t>interfejsu</a:t>
            </a:r>
            <a:r>
              <a:rPr lang="en-US" sz="1200" dirty="0"/>
              <a:t> </a:t>
            </a:r>
            <a:r>
              <a:rPr lang="en-US" sz="1200" dirty="0" err="1"/>
              <a:t>Streamlit</a:t>
            </a:r>
            <a:r>
              <a:rPr lang="en-US" sz="1200" dirty="0"/>
              <a:t> (</a:t>
            </a:r>
            <a:r>
              <a:rPr lang="en-US" sz="1200" dirty="0" err="1"/>
              <a:t>screen_upload</a:t>
            </a:r>
            <a:r>
              <a:rPr lang="en-US" sz="1200" dirty="0"/>
              <a:t>, </a:t>
            </a:r>
            <a:r>
              <a:rPr lang="en-US" sz="1200" dirty="0" err="1"/>
              <a:t>screen_review</a:t>
            </a:r>
            <a:r>
              <a:rPr lang="en-US" sz="1200" dirty="0"/>
              <a:t>) (Oliwier) </a:t>
            </a:r>
            <a:endParaRPr lang="pl-PL" sz="1200" dirty="0"/>
          </a:p>
          <a:p>
            <a:pPr>
              <a:spcBef>
                <a:spcPts val="17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200" dirty="0"/>
              <a:t>Zaimplementowanie statystyk, ekranu eksportu oraz naniesienie poprawek po uwagach opiekuna (Jakub H)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C52036-834E-CD13-ED4E-5D6A3DC23D9B}"/>
              </a:ext>
            </a:extLst>
          </p:cNvPr>
          <p:cNvSpPr/>
          <p:nvPr/>
        </p:nvSpPr>
        <p:spPr>
          <a:xfrm>
            <a:off x="6135624" y="960120"/>
            <a:ext cx="5751576" cy="2756916"/>
          </a:xfrm>
          <a:prstGeom prst="rect">
            <a:avLst/>
          </a:prstGeom>
          <a:solidFill>
            <a:srgbClr val="EAF7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793683-3D18-D40A-E2BF-E3445099C1CD}"/>
              </a:ext>
            </a:extLst>
          </p:cNvPr>
          <p:cNvSpPr/>
          <p:nvPr/>
        </p:nvSpPr>
        <p:spPr>
          <a:xfrm>
            <a:off x="6135624" y="960120"/>
            <a:ext cx="5751576" cy="347472"/>
          </a:xfrm>
          <a:prstGeom prst="rect">
            <a:avLst/>
          </a:prstGeom>
          <a:solidFill>
            <a:srgbClr val="1E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08D7F-A0C7-9728-6097-29D7EAFAFC8E}"/>
              </a:ext>
            </a:extLst>
          </p:cNvPr>
          <p:cNvSpPr txBox="1"/>
          <p:nvPr/>
        </p:nvSpPr>
        <p:spPr>
          <a:xfrm>
            <a:off x="6318504" y="1033272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▶  Co jest planowane na następny okres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A42B5-69BD-B0F4-7F74-1E6C6AB8AF11}"/>
              </a:ext>
            </a:extLst>
          </p:cNvPr>
          <p:cNvSpPr/>
          <p:nvPr/>
        </p:nvSpPr>
        <p:spPr>
          <a:xfrm>
            <a:off x="274320" y="3826764"/>
            <a:ext cx="5751576" cy="2756916"/>
          </a:xfrm>
          <a:prstGeom prst="rect">
            <a:avLst/>
          </a:prstGeom>
          <a:solidFill>
            <a:srgbClr val="FDEDED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66F7D1-913D-CB72-681F-661F2D55157D}"/>
              </a:ext>
            </a:extLst>
          </p:cNvPr>
          <p:cNvSpPr/>
          <p:nvPr/>
        </p:nvSpPr>
        <p:spPr>
          <a:xfrm>
            <a:off x="274320" y="3826764"/>
            <a:ext cx="5751576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53E6A8-2EB3-3341-8F19-ADFDB3289E12}"/>
              </a:ext>
            </a:extLst>
          </p:cNvPr>
          <p:cNvSpPr txBox="1"/>
          <p:nvPr/>
        </p:nvSpPr>
        <p:spPr>
          <a:xfrm>
            <a:off x="457200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⚠  Ryzyka projektu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7098FA-1695-3969-FC7D-E6F8CA1230C7}"/>
              </a:ext>
            </a:extLst>
          </p:cNvPr>
          <p:cNvSpPr txBox="1"/>
          <p:nvPr/>
        </p:nvSpPr>
        <p:spPr>
          <a:xfrm>
            <a:off x="457200" y="4283964"/>
            <a:ext cx="5385816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</a:pPr>
            <a:r>
              <a:rPr lang="en-US" sz="1100" dirty="0">
                <a:solidFill>
                  <a:srgbClr val="1A1A2E"/>
                </a:solidFill>
              </a:rPr>
              <a:t>▸ </a:t>
            </a:r>
            <a:r>
              <a:rPr lang="pl-PL" sz="1100" dirty="0"/>
              <a:t>Krytyczne ryzyko nieosiągnięcia wymaganej przepustowości (czas operacji &gt; 500 ms/rek.) przy weryfikacji zbioru 10 000+ rekordów Observation. 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nieoczekiwanych błędów ścieżki krytycznej podczas całościowych testów end-to-end (import -&gt; proces -&gt; eksport). </a:t>
            </a:r>
          </a:p>
          <a:p>
            <a:pPr>
              <a:spcBef>
                <a:spcPts val="1300"/>
              </a:spcBef>
            </a:pPr>
            <a:r>
              <a:rPr sz="11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pl-PL" sz="1100" dirty="0"/>
              <a:t>Ryzyko odrzucenia PoC przez opiekuna, wynikające z niezgodności z pierwotnymi wymaganiami niefunkcjonalnymi.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316D47-3442-535E-F387-811880ACAD37}"/>
              </a:ext>
            </a:extLst>
          </p:cNvPr>
          <p:cNvSpPr/>
          <p:nvPr/>
        </p:nvSpPr>
        <p:spPr>
          <a:xfrm>
            <a:off x="6135624" y="3826764"/>
            <a:ext cx="5751576" cy="2756916"/>
          </a:xfrm>
          <a:prstGeom prst="rect">
            <a:avLst/>
          </a:prstGeom>
          <a:solidFill>
            <a:srgbClr val="F0EBF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E37E85-7D8C-BA88-DC3C-C23D01A3DD75}"/>
              </a:ext>
            </a:extLst>
          </p:cNvPr>
          <p:cNvSpPr/>
          <p:nvPr/>
        </p:nvSpPr>
        <p:spPr>
          <a:xfrm>
            <a:off x="6135624" y="3826764"/>
            <a:ext cx="5751576" cy="34747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B6EA8D-B0C3-5235-BD85-867884E67CBE}"/>
              </a:ext>
            </a:extLst>
          </p:cNvPr>
          <p:cNvSpPr txBox="1"/>
          <p:nvPr/>
        </p:nvSpPr>
        <p:spPr>
          <a:xfrm>
            <a:off x="6318504" y="3899916"/>
            <a:ext cx="5385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●  Postęp prac – status zadań miesięcznych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ECEF92-A368-6069-99A7-3A037A9BF2F4}"/>
              </a:ext>
            </a:extLst>
          </p:cNvPr>
          <p:cNvSpPr/>
          <p:nvPr/>
        </p:nvSpPr>
        <p:spPr>
          <a:xfrm>
            <a:off x="6318504" y="4293108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D00C1C-2F9E-003A-073E-FEDB6082EC91}"/>
              </a:ext>
            </a:extLst>
          </p:cNvPr>
          <p:cNvSpPr txBox="1"/>
          <p:nvPr/>
        </p:nvSpPr>
        <p:spPr>
          <a:xfrm>
            <a:off x="648309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Ukończono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B3CE83A-DE1F-1F1E-C1D2-E39D0D19F2D5}"/>
              </a:ext>
            </a:extLst>
          </p:cNvPr>
          <p:cNvSpPr/>
          <p:nvPr/>
        </p:nvSpPr>
        <p:spPr>
          <a:xfrm>
            <a:off x="7872984" y="4293108"/>
            <a:ext cx="128016" cy="12801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5C0808-009E-FC23-F07B-88C1D1AF7C8C}"/>
              </a:ext>
            </a:extLst>
          </p:cNvPr>
          <p:cNvSpPr txBox="1"/>
          <p:nvPr/>
        </p:nvSpPr>
        <p:spPr>
          <a:xfrm>
            <a:off x="80375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W toku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6E34DA1-55A2-DCCB-1070-4893BCCAB6DF}"/>
              </a:ext>
            </a:extLst>
          </p:cNvPr>
          <p:cNvSpPr/>
          <p:nvPr/>
        </p:nvSpPr>
        <p:spPr>
          <a:xfrm>
            <a:off x="9244584" y="4293108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A25ACC-DB80-F639-88F4-BC77E6EA6149}"/>
              </a:ext>
            </a:extLst>
          </p:cNvPr>
          <p:cNvSpPr txBox="1"/>
          <p:nvPr/>
        </p:nvSpPr>
        <p:spPr>
          <a:xfrm>
            <a:off x="9409176" y="426567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A5A7A"/>
                </a:solidFill>
                <a:latin typeface="Calibri"/>
              </a:rPr>
              <a:t>Problem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6136CB0-8743-6FD2-3FA7-D27D2C9593EB}"/>
              </a:ext>
            </a:extLst>
          </p:cNvPr>
          <p:cNvSpPr/>
          <p:nvPr/>
        </p:nvSpPr>
        <p:spPr>
          <a:xfrm>
            <a:off x="6345936" y="4623663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2694BF-48E2-5ED7-3BE0-A918ECB74F73}"/>
              </a:ext>
            </a:extLst>
          </p:cNvPr>
          <p:cNvSpPr txBox="1"/>
          <p:nvPr/>
        </p:nvSpPr>
        <p:spPr>
          <a:xfrm>
            <a:off x="6592824" y="4539996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Testy end-to-end: import JSONL → </a:t>
            </a:r>
            <a:r>
              <a:rPr lang="en-US" sz="1050" dirty="0" err="1"/>
              <a:t>eksport</a:t>
            </a:r>
            <a:r>
              <a:rPr lang="en-US" sz="1050" dirty="0"/>
              <a:t> clean JSONL + CSV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A783B40-F5E0-3C30-364F-E0222DCA79A9}"/>
              </a:ext>
            </a:extLst>
          </p:cNvPr>
          <p:cNvSpPr/>
          <p:nvPr/>
        </p:nvSpPr>
        <p:spPr>
          <a:xfrm>
            <a:off x="6345936" y="4955590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50929-BC11-2F3C-4F0C-E303E0DD3BFA}"/>
              </a:ext>
            </a:extLst>
          </p:cNvPr>
          <p:cNvSpPr txBox="1"/>
          <p:nvPr/>
        </p:nvSpPr>
        <p:spPr>
          <a:xfrm>
            <a:off x="6592824" y="4871923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Testy wydajnościowe: 10 000+ rekordów Observation (&lt;500 ms/rek.)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97B2970-97A2-0AA3-88AA-EF3D7BE76F81}"/>
              </a:ext>
            </a:extLst>
          </p:cNvPr>
          <p:cNvSpPr/>
          <p:nvPr/>
        </p:nvSpPr>
        <p:spPr>
          <a:xfrm>
            <a:off x="6345936" y="5287518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849A7D-50E9-D1FE-0013-A9C035A981D3}"/>
              </a:ext>
            </a:extLst>
          </p:cNvPr>
          <p:cNvSpPr txBox="1"/>
          <p:nvPr/>
        </p:nvSpPr>
        <p:spPr>
          <a:xfrm>
            <a:off x="6592824" y="5203850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Dokumentacja</a:t>
            </a:r>
            <a:r>
              <a:rPr lang="en-US" sz="1050" dirty="0"/>
              <a:t> </a:t>
            </a:r>
            <a:r>
              <a:rPr lang="en-US" sz="1050" dirty="0" err="1"/>
              <a:t>procesów</a:t>
            </a:r>
            <a:r>
              <a:rPr lang="en-US" sz="1050" dirty="0"/>
              <a:t> </a:t>
            </a:r>
            <a:r>
              <a:rPr lang="en-US" sz="1050" dirty="0" err="1"/>
              <a:t>odbiorowych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04BD6B6-9FBC-707E-28FB-E7F38DCAA922}"/>
              </a:ext>
            </a:extLst>
          </p:cNvPr>
          <p:cNvSpPr/>
          <p:nvPr/>
        </p:nvSpPr>
        <p:spPr>
          <a:xfrm>
            <a:off x="6345936" y="5619445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51FFCC-59BA-1042-2EF6-BCF54638B29D}"/>
              </a:ext>
            </a:extLst>
          </p:cNvPr>
          <p:cNvSpPr txBox="1"/>
          <p:nvPr/>
        </p:nvSpPr>
        <p:spPr>
          <a:xfrm>
            <a:off x="6592824" y="5535777"/>
            <a:ext cx="5074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KM2-4: Testy zakończone, PoC zaakceptowany przez opiekuna – ODBIÓR</a:t>
            </a:r>
            <a:endParaRPr sz="1050" dirty="0">
              <a:solidFill>
                <a:srgbClr val="1A1A2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867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2263</Words>
  <Application>Microsoft Office PowerPoint</Application>
  <PresentationFormat>Niestandardowy</PresentationFormat>
  <Paragraphs>270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Kuba H</dc:creator>
  <cp:keywords/>
  <dc:description>generated using python-pptx</dc:description>
  <cp:lastModifiedBy>Kuba H</cp:lastModifiedBy>
  <cp:revision>2</cp:revision>
  <dcterms:created xsi:type="dcterms:W3CDTF">2013-01-27T09:14:16Z</dcterms:created>
  <dcterms:modified xsi:type="dcterms:W3CDTF">2026-06-02T13:46:49Z</dcterms:modified>
  <cp:category/>
</cp:coreProperties>
</file>